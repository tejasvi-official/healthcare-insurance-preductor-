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 Regressor</c:v>
                </c:pt>
                <c:pt idx="1">
                  <c:v>Multiple Linear Regression</c:v>
                </c:pt>
                <c:pt idx="2">
                  <c:v>Baseline Simple Mean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75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C1-49D6-9238-09F98C4614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98243088"/>
        <c:axId val="998244528"/>
      </c:barChart>
      <c:catAx>
        <c:axId val="9982430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8244528"/>
        <c:crosses val="autoZero"/>
        <c:auto val="1"/>
        <c:lblAlgn val="ctr"/>
        <c:lblOffset val="100"/>
        <c:noMultiLvlLbl val="0"/>
      </c:catAx>
      <c:valAx>
        <c:axId val="998244528"/>
        <c:scaling>
          <c:orientation val="minMax"/>
        </c:scaling>
        <c:delete val="1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98243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0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665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369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99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14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61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7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515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11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41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815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392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6794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10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655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567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545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87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64081-0CF4-4058-9BBB-B1260826846B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0AA4D-E8DF-4962-9A86-9BAFECAFE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0258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DA34-65D9-17B3-AFBB-BD1381248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784080" cy="2306637"/>
          </a:xfrm>
        </p:spPr>
        <p:txBody>
          <a:bodyPr/>
          <a:lstStyle/>
          <a:p>
            <a:r>
              <a:rPr lang="en-IN" b="1" dirty="0"/>
              <a:t>AI Health Insurance Predictor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1B4D5-C140-A3A0-302F-04417ACCC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0452" y="2939627"/>
            <a:ext cx="6400800" cy="12564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Optimizing Underwriting Premium Accuracy Using Dual Linear Regression &amp; Random Forest Architectures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1313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825C71-2238-EC43-8C43-750A6C7D07E2}"/>
              </a:ext>
            </a:extLst>
          </p:cNvPr>
          <p:cNvSpPr txBox="1"/>
          <p:nvPr/>
        </p:nvSpPr>
        <p:spPr>
          <a:xfrm>
            <a:off x="655320" y="460494"/>
            <a:ext cx="3652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solidFill>
                  <a:srgbClr val="1E3A8A"/>
                </a:solidFill>
                <a:effectLst/>
                <a:latin typeface="Poppins" panose="00000500000000000000" pitchFamily="2" charset="0"/>
              </a:rPr>
              <a:t>The Dataset Landscape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0E5372-1580-C078-18CD-52F86216E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183777"/>
              </p:ext>
            </p:extLst>
          </p:nvPr>
        </p:nvGraphicFramePr>
        <p:xfrm>
          <a:off x="1381760" y="1107440"/>
          <a:ext cx="8625840" cy="4632959"/>
        </p:xfrm>
        <a:graphic>
          <a:graphicData uri="http://schemas.openxmlformats.org/drawingml/2006/table">
            <a:tbl>
              <a:tblPr/>
              <a:tblGrid>
                <a:gridCol w="2011583">
                  <a:extLst>
                    <a:ext uri="{9D8B030D-6E8A-4147-A177-3AD203B41FA5}">
                      <a16:colId xmlns:a16="http://schemas.microsoft.com/office/drawing/2014/main" val="930474547"/>
                    </a:ext>
                  </a:extLst>
                </a:gridCol>
                <a:gridCol w="2011583">
                  <a:extLst>
                    <a:ext uri="{9D8B030D-6E8A-4147-A177-3AD203B41FA5}">
                      <a16:colId xmlns:a16="http://schemas.microsoft.com/office/drawing/2014/main" val="2419079792"/>
                    </a:ext>
                  </a:extLst>
                </a:gridCol>
                <a:gridCol w="2011583">
                  <a:extLst>
                    <a:ext uri="{9D8B030D-6E8A-4147-A177-3AD203B41FA5}">
                      <a16:colId xmlns:a16="http://schemas.microsoft.com/office/drawing/2014/main" val="3767953713"/>
                    </a:ext>
                  </a:extLst>
                </a:gridCol>
                <a:gridCol w="2591091">
                  <a:extLst>
                    <a:ext uri="{9D8B030D-6E8A-4147-A177-3AD203B41FA5}">
                      <a16:colId xmlns:a16="http://schemas.microsoft.com/office/drawing/2014/main" val="2011222500"/>
                    </a:ext>
                  </a:extLst>
                </a:gridCol>
              </a:tblGrid>
              <a:tr h="5294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1">
                          <a:solidFill>
                            <a:srgbClr val="1E3A8A"/>
                          </a:solidFill>
                          <a:effectLst/>
                          <a:latin typeface="Poppins" panose="00000500000000000000" pitchFamily="2" charset="0"/>
                        </a:rPr>
                        <a:t>Feature Name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1">
                          <a:solidFill>
                            <a:srgbClr val="1E3A8A"/>
                          </a:solidFill>
                          <a:effectLst/>
                          <a:latin typeface="Poppins" panose="00000500000000000000" pitchFamily="2" charset="0"/>
                        </a:rPr>
                        <a:t>Data Type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1">
                          <a:solidFill>
                            <a:srgbClr val="1E3A8A"/>
                          </a:solidFill>
                          <a:effectLst/>
                          <a:latin typeface="Poppins" panose="00000500000000000000" pitchFamily="2" charset="0"/>
                        </a:rPr>
                        <a:t>Risk Dimension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1">
                          <a:solidFill>
                            <a:srgbClr val="1E3A8A"/>
                          </a:solidFill>
                          <a:effectLst/>
                          <a:latin typeface="Poppins" panose="00000500000000000000" pitchFamily="2" charset="0"/>
                        </a:rPr>
                        <a:t>Underwriting Significance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703128"/>
                  </a:ext>
                </a:extLst>
              </a:tr>
              <a:tr h="11251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1">
                          <a:solidFill>
                            <a:srgbClr val="0F172A"/>
                          </a:solidFill>
                          <a:effectLst/>
                        </a:rPr>
                        <a:t>Age</a:t>
                      </a:r>
                      <a:endParaRPr lang="en-IN" sz="100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solidFill>
                            <a:srgbClr val="334155"/>
                          </a:solidFill>
                          <a:effectLst/>
                        </a:rPr>
                        <a:t>Numerical (Continuous)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solidFill>
                            <a:srgbClr val="334155"/>
                          </a:solidFill>
                          <a:effectLst/>
                        </a:rPr>
                        <a:t>Demographic / Baseline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solidFill>
                            <a:srgbClr val="334155"/>
                          </a:solidFill>
                          <a:effectLst/>
                        </a:rPr>
                        <a:t>Primary baseline factor representing natural risk accumulation.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176877"/>
                  </a:ext>
                </a:extLst>
              </a:tr>
              <a:tr h="9265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1">
                          <a:solidFill>
                            <a:srgbClr val="0F172A"/>
                          </a:solidFill>
                          <a:effectLst/>
                        </a:rPr>
                        <a:t>BMI</a:t>
                      </a:r>
                      <a:endParaRPr lang="en-IN" sz="100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solidFill>
                            <a:srgbClr val="334155"/>
                          </a:solidFill>
                          <a:effectLst/>
                        </a:rPr>
                        <a:t>Numerical (Continuous)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solidFill>
                            <a:srgbClr val="334155"/>
                          </a:solidFill>
                          <a:effectLst/>
                        </a:rPr>
                        <a:t>Clinical Metric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solidFill>
                            <a:srgbClr val="334155"/>
                          </a:solidFill>
                          <a:effectLst/>
                        </a:rPr>
                        <a:t>Strong non-linear indicator for chronic disease risk profiles.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022569"/>
                  </a:ext>
                </a:extLst>
              </a:tr>
              <a:tr h="9265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1">
                          <a:solidFill>
                            <a:srgbClr val="0F172A"/>
                          </a:solidFill>
                          <a:effectLst/>
                        </a:rPr>
                        <a:t>Smoker Status</a:t>
                      </a:r>
                      <a:endParaRPr lang="en-IN" sz="100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solidFill>
                            <a:srgbClr val="334155"/>
                          </a:solidFill>
                          <a:effectLst/>
                        </a:rPr>
                        <a:t>Categorical (Binary)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solidFill>
                            <a:srgbClr val="334155"/>
                          </a:solidFill>
                          <a:effectLst/>
                        </a:rPr>
                        <a:t>Lifestyle Indicator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solidFill>
                            <a:srgbClr val="334155"/>
                          </a:solidFill>
                          <a:effectLst/>
                        </a:rPr>
                        <a:t>The strongest singular cost driver across the global cohort.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067467"/>
                  </a:ext>
                </a:extLst>
              </a:tr>
              <a:tr h="11251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1">
                          <a:solidFill>
                            <a:srgbClr val="0F172A"/>
                          </a:solidFill>
                          <a:effectLst/>
                        </a:rPr>
                        <a:t>Diabetic / BP</a:t>
                      </a:r>
                      <a:endParaRPr lang="en-IN" sz="100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solidFill>
                            <a:srgbClr val="334155"/>
                          </a:solidFill>
                          <a:effectLst/>
                        </a:rPr>
                        <a:t>Categorical &amp; Continuous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solidFill>
                            <a:srgbClr val="334155"/>
                          </a:solidFill>
                          <a:effectLst/>
                        </a:rPr>
                        <a:t>Comorbidity Profiles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effectLst/>
                        </a:rPr>
                        <a:t>Identifies patients with immediate high-risk cardiovascular factors.</a:t>
                      </a:r>
                    </a:p>
                  </a:txBody>
                  <a:tcPr marL="77459" marR="77459" marT="51639" marB="51639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34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51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66DD83-1A09-A2F8-5A5F-5FD87232844E}"/>
              </a:ext>
            </a:extLst>
          </p:cNvPr>
          <p:cNvSpPr txBox="1"/>
          <p:nvPr/>
        </p:nvSpPr>
        <p:spPr>
          <a:xfrm>
            <a:off x="482600" y="328414"/>
            <a:ext cx="3794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solidFill>
                  <a:srgbClr val="1E3A8A"/>
                </a:solidFill>
                <a:effectLst/>
                <a:latin typeface="Poppins" panose="00000500000000000000" pitchFamily="2" charset="0"/>
              </a:rPr>
              <a:t>The Impact of Smoking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796BA-B251-5ED1-20D6-96C10D0A601C}"/>
              </a:ext>
            </a:extLst>
          </p:cNvPr>
          <p:cNvSpPr txBox="1"/>
          <p:nvPr/>
        </p:nvSpPr>
        <p:spPr>
          <a:xfrm>
            <a:off x="731520" y="1187228"/>
            <a:ext cx="6705600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b="0" i="0" dirty="0">
                <a:effectLst/>
                <a:latin typeface="Helvetica Neue"/>
              </a:rPr>
              <a:t>Smoking behavior separates patients into two completely distinct financial premium tiers. Non-smokers present a predictable low-variance cost curve (under $15,000 annually).</a:t>
            </a:r>
          </a:p>
          <a:p>
            <a:pPr algn="l">
              <a:spcAft>
                <a:spcPts val="900"/>
              </a:spcAft>
              <a:buNone/>
            </a:pPr>
            <a:r>
              <a:rPr lang="en-US" b="0" i="0" dirty="0">
                <a:effectLst/>
                <a:latin typeface="Helvetica Neue"/>
              </a:rPr>
              <a:t>Conversely, smokers constitute an extremely high-cost and high-variance cohort extending up to $60,000+, representing a critical underwriting liability</a:t>
            </a:r>
            <a:r>
              <a:rPr lang="en-US" b="0" i="0" dirty="0">
                <a:solidFill>
                  <a:srgbClr val="334155"/>
                </a:solidFill>
                <a:effectLst/>
                <a:latin typeface="Helvetica Neue"/>
              </a:rPr>
              <a:t>.</a:t>
            </a:r>
          </a:p>
        </p:txBody>
      </p:sp>
      <p:pic>
        <p:nvPicPr>
          <p:cNvPr id="6" name="Picture 5" descr="Healthcare concept digital healthy lifestyle illustration blue theme">
            <a:extLst>
              <a:ext uri="{FF2B5EF4-FFF2-40B4-BE49-F238E27FC236}">
                <a16:creationId xmlns:a16="http://schemas.microsoft.com/office/drawing/2014/main" id="{09A2D7BE-8A22-0816-F8D9-BB0416BC0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279" y="328414"/>
            <a:ext cx="4742465" cy="48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60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386DBF-6084-0966-C87E-C52B24E9DB24}"/>
              </a:ext>
            </a:extLst>
          </p:cNvPr>
          <p:cNvSpPr txBox="1"/>
          <p:nvPr/>
        </p:nvSpPr>
        <p:spPr>
          <a:xfrm>
            <a:off x="3840480" y="145534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effectLst/>
                <a:latin typeface="Poppins" panose="00000500000000000000" pitchFamily="2" charset="0"/>
              </a:rPr>
              <a:t>BMI </a:t>
            </a:r>
            <a:r>
              <a:rPr lang="en-IN" b="1" dirty="0"/>
              <a:t>The Obesity Multiplier</a:t>
            </a:r>
          </a:p>
          <a:p>
            <a:pPr algn="l">
              <a:buNone/>
            </a:pPr>
            <a:r>
              <a:rPr lang="en-IN" sz="2800" b="1" i="0" dirty="0">
                <a:effectLst/>
                <a:latin typeface="Poppins" panose="00000500000000000000" pitchFamily="2" charset="0"/>
              </a:rPr>
              <a:t>&amp; Obesity Risk Curves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EFEF3-E7BF-C48E-91F8-310A3B3A88B9}"/>
              </a:ext>
            </a:extLst>
          </p:cNvPr>
          <p:cNvSpPr txBox="1"/>
          <p:nvPr/>
        </p:nvSpPr>
        <p:spPr>
          <a:xfrm>
            <a:off x="883920" y="1273294"/>
            <a:ext cx="3434080" cy="3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IN" b="1" i="0" u="sng" dirty="0">
                <a:effectLst/>
                <a:latin typeface="Poppins" panose="00000500000000000000" pitchFamily="2" charset="0"/>
              </a:rPr>
              <a:t>The Obesity Multiplier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AB47AF-438F-5CFB-DA31-036FD2D68C01}"/>
              </a:ext>
            </a:extLst>
          </p:cNvPr>
          <p:cNvSpPr txBox="1"/>
          <p:nvPr/>
        </p:nvSpPr>
        <p:spPr>
          <a:xfrm>
            <a:off x="1158240" y="1824714"/>
            <a:ext cx="609600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b="0" i="0" dirty="0">
                <a:effectLst/>
                <a:latin typeface="Helvetica Neue"/>
              </a:rPr>
              <a:t>While Body Mass Index (BMI) has a mild linear correlation with medical claims for normal-weight individuals, it compounds exponentially when interacting with smoking and clinical comorbidities.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Helvetica Neue"/>
              </a:rPr>
              <a:t>Threshold Trigger:</a:t>
            </a:r>
            <a:r>
              <a:rPr lang="en-US" b="0" i="0" dirty="0">
                <a:effectLst/>
                <a:latin typeface="Helvetica Neue"/>
              </a:rPr>
              <a:t> Claims rise sharply at a BMI threshold of 30.0.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Helvetica Neue"/>
              </a:rPr>
              <a:t>Risk Multiplier:</a:t>
            </a:r>
            <a:r>
              <a:rPr lang="en-US" b="0" i="0" dirty="0">
                <a:effectLst/>
                <a:latin typeface="Helvetica Neue"/>
              </a:rPr>
              <a:t> High-BMI smokers generate the highest claims in the entire portfolio.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Helvetica Neue"/>
              </a:rPr>
              <a:t>Predictive Capture:</a:t>
            </a:r>
            <a:r>
              <a:rPr lang="en-US" b="0" i="0" dirty="0">
                <a:effectLst/>
                <a:latin typeface="Helvetica Neue"/>
              </a:rPr>
              <a:t> Traditional linear formulas fail to capture this step-up risk curve.</a:t>
            </a:r>
          </a:p>
        </p:txBody>
      </p:sp>
      <p:pic>
        <p:nvPicPr>
          <p:cNvPr id="8" name="Picture 7" descr="Medical data analytics dashboard predictive modeling abstract illustration blue theme">
            <a:extLst>
              <a:ext uri="{FF2B5EF4-FFF2-40B4-BE49-F238E27FC236}">
                <a16:creationId xmlns:a16="http://schemas.microsoft.com/office/drawing/2014/main" id="{91E21B5D-483B-B7DE-2AF5-5E2A9797B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440" y="1464687"/>
            <a:ext cx="4194048" cy="424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18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5D540D-7D53-DF81-22BC-C814A6A9BCAC}"/>
              </a:ext>
            </a:extLst>
          </p:cNvPr>
          <p:cNvSpPr txBox="1"/>
          <p:nvPr/>
        </p:nvSpPr>
        <p:spPr>
          <a:xfrm>
            <a:off x="690880" y="1150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800" b="1" i="0" dirty="0">
                <a:effectLst/>
                <a:latin typeface="Poppins" panose="00000500000000000000" pitchFamily="2" charset="0"/>
              </a:rPr>
              <a:t>Modeling Framework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56E3CF-ED22-7A0B-6426-2A8F00E73DF3}"/>
              </a:ext>
            </a:extLst>
          </p:cNvPr>
          <p:cNvSpPr/>
          <p:nvPr/>
        </p:nvSpPr>
        <p:spPr>
          <a:xfrm>
            <a:off x="436880" y="1422400"/>
            <a:ext cx="4724400" cy="3241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1. Linear Regression</a:t>
            </a:r>
          </a:p>
          <a:p>
            <a:r>
              <a:rPr lang="en-US" dirty="0"/>
              <a:t>Establishes baseline pricing by calculating an additive model. It assigns clear dollar-value coefficients to each demographic input (e.g., adding ~$270/year per age unit).</a:t>
            </a:r>
          </a:p>
          <a:p>
            <a:r>
              <a:rPr lang="en-US" dirty="0"/>
              <a:t>While highly interpretable for standard actuary teams, it struggles to fit complex step-threshold interactions like </a:t>
            </a:r>
            <a:r>
              <a:rPr lang="en-US" b="1" dirty="0"/>
              <a:t>[BMI &gt; 30 × Smoker]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3B6D55-456A-7503-E900-B15D655C0247}"/>
              </a:ext>
            </a:extLst>
          </p:cNvPr>
          <p:cNvSpPr/>
          <p:nvPr/>
        </p:nvSpPr>
        <p:spPr>
          <a:xfrm>
            <a:off x="6258560" y="1422400"/>
            <a:ext cx="4531360" cy="3241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2. Random Forest Regressor</a:t>
            </a:r>
          </a:p>
          <a:p>
            <a:r>
              <a:rPr lang="en-US"/>
              <a:t>An ensemble model comprised of numerous decision trees that naturally segment the patient landscape along compound feature splits.</a:t>
            </a:r>
          </a:p>
          <a:p>
            <a:r>
              <a:rPr lang="en-US"/>
              <a:t>By mapping overlapping non-linear relationships, it accurately handles high-risk interactions and significantly limits pricing outliers on high-claim profiles.</a:t>
            </a:r>
          </a:p>
        </p:txBody>
      </p:sp>
    </p:spTree>
    <p:extLst>
      <p:ext uri="{BB962C8B-B14F-4D97-AF65-F5344CB8AC3E}">
        <p14:creationId xmlns:p14="http://schemas.microsoft.com/office/powerpoint/2010/main" val="2273161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F80FC2-D4B7-C0CE-C7CB-C16687475F2F}"/>
              </a:ext>
            </a:extLst>
          </p:cNvPr>
          <p:cNvSpPr txBox="1"/>
          <p:nvPr/>
        </p:nvSpPr>
        <p:spPr>
          <a:xfrm>
            <a:off x="548640" y="16585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200" b="1" i="0" dirty="0">
                <a:effectLst/>
                <a:latin typeface="Poppins" panose="00000500000000000000" pitchFamily="2" charset="0"/>
              </a:rPr>
              <a:t>Predictive Performance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F48B9E7-696E-A429-3826-DD4A3893DE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2359472"/>
              </p:ext>
            </p:extLst>
          </p:nvPr>
        </p:nvGraphicFramePr>
        <p:xfrm>
          <a:off x="1219200" y="750629"/>
          <a:ext cx="7335520" cy="4430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B1D6A4D-EF24-F730-5E51-36D4C6DCE176}"/>
              </a:ext>
            </a:extLst>
          </p:cNvPr>
          <p:cNvSpPr txBox="1"/>
          <p:nvPr/>
        </p:nvSpPr>
        <p:spPr>
          <a:xfrm>
            <a:off x="2123440" y="538335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effectLst/>
                <a:latin typeface="Helvetica Neue"/>
              </a:rPr>
              <a:t>The Random Forest model explains 86% of the variance in actual claim costs, outperforming the Linear Regression model by an absolute 11%. This difference reflects its ability to model non-linear, interacting health variables</a:t>
            </a:r>
            <a:r>
              <a:rPr lang="en-US" b="0" i="1" dirty="0">
                <a:solidFill>
                  <a:srgbClr val="334155"/>
                </a:solidFill>
                <a:effectLst/>
                <a:latin typeface="Helvetica Neue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466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18374B-4134-729D-C4AE-13586264187E}"/>
              </a:ext>
            </a:extLst>
          </p:cNvPr>
          <p:cNvSpPr txBox="1"/>
          <p:nvPr/>
        </p:nvSpPr>
        <p:spPr>
          <a:xfrm>
            <a:off x="467360" y="94734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Predictor Architecture</a:t>
            </a:r>
          </a:p>
          <a:p>
            <a:pPr algn="l">
              <a:buNone/>
            </a:pPr>
            <a:endParaRPr lang="en-IN" sz="2400" b="1" i="0" dirty="0">
              <a:effectLst/>
              <a:latin typeface="Poppins" panose="00000500000000000000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1181EE5-D6AA-5B92-036D-A68EE8C6B34A}"/>
              </a:ext>
            </a:extLst>
          </p:cNvPr>
          <p:cNvSpPr/>
          <p:nvPr/>
        </p:nvSpPr>
        <p:spPr>
          <a:xfrm>
            <a:off x="467360" y="1158240"/>
            <a:ext cx="4297680" cy="24892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/>
              <a:t>1. User Inputs</a:t>
            </a:r>
            <a:endParaRPr lang="en-IN"/>
          </a:p>
          <a:p>
            <a:r>
              <a:rPr lang="en-IN"/>
              <a:t>Sidebar inputs collect patient age, BMI, smoker status, and diabetes metrics in real-time.</a:t>
            </a:r>
            <a:endParaRPr lang="en-IN">
              <a:effectLst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B70414D-6EDC-7F51-EE27-9B3C43BD8014}"/>
              </a:ext>
            </a:extLst>
          </p:cNvPr>
          <p:cNvSpPr/>
          <p:nvPr/>
        </p:nvSpPr>
        <p:spPr>
          <a:xfrm>
            <a:off x="6096000" y="1158240"/>
            <a:ext cx="4175760" cy="24892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2. Preprocessing</a:t>
            </a:r>
          </a:p>
          <a:p>
            <a:r>
              <a:rPr lang="en-US" dirty="0"/>
              <a:t>Encodes nominal labels (gender, smoker) and scales factors for predictive calculations.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A18F75-12C6-C571-56BA-BB60564826D8}"/>
              </a:ext>
            </a:extLst>
          </p:cNvPr>
          <p:cNvSpPr/>
          <p:nvPr/>
        </p:nvSpPr>
        <p:spPr>
          <a:xfrm>
            <a:off x="3606800" y="4013200"/>
            <a:ext cx="3738880" cy="226568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3. Model Run</a:t>
            </a:r>
          </a:p>
          <a:p>
            <a:r>
              <a:rPr lang="en-US"/>
              <a:t>Calculates dual estimates using both Random Forest and Linear Regression models.</a:t>
            </a:r>
          </a:p>
        </p:txBody>
      </p:sp>
    </p:spTree>
    <p:extLst>
      <p:ext uri="{BB962C8B-B14F-4D97-AF65-F5344CB8AC3E}">
        <p14:creationId xmlns:p14="http://schemas.microsoft.com/office/powerpoint/2010/main" val="305005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D62FAA-8A64-4263-F9F8-7C7140A1BA0F}"/>
              </a:ext>
            </a:extLst>
          </p:cNvPr>
          <p:cNvSpPr txBox="1"/>
          <p:nvPr/>
        </p:nvSpPr>
        <p:spPr>
          <a:xfrm>
            <a:off x="325120" y="12521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800" b="1" i="0" dirty="0">
                <a:effectLst/>
                <a:latin typeface="Poppins" panose="00000500000000000000" pitchFamily="2" charset="0"/>
              </a:rPr>
              <a:t>Actuarial Risk Mitigation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B95B00-898F-D3C1-6E0C-FAB93AE217FB}"/>
              </a:ext>
            </a:extLst>
          </p:cNvPr>
          <p:cNvSpPr/>
          <p:nvPr/>
        </p:nvSpPr>
        <p:spPr>
          <a:xfrm>
            <a:off x="416560" y="1036320"/>
            <a:ext cx="4927600" cy="21945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br>
              <a:rPr lang="en-US" b="1" dirty="0"/>
            </a:br>
            <a:r>
              <a:rPr lang="en-US" b="1" dirty="0"/>
              <a:t>Dynamic Brackets</a:t>
            </a:r>
          </a:p>
          <a:p>
            <a:r>
              <a:rPr lang="en-US" dirty="0"/>
              <a:t>Move away from rigid age bands. Use Random Forest to define flexible, multivariate premium thresholds to prevent underpricing of complex risk profiles.</a:t>
            </a:r>
          </a:p>
        </p:txBody>
      </p:sp>
      <p:pic>
        <p:nvPicPr>
          <p:cNvPr id="6" name="Graphic 5" descr="Books with solid fill">
            <a:extLst>
              <a:ext uri="{FF2B5EF4-FFF2-40B4-BE49-F238E27FC236}">
                <a16:creationId xmlns:a16="http://schemas.microsoft.com/office/drawing/2014/main" id="{9ACB7B2B-BBB6-4C25-7D23-C255DAB4B8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7680" y="1117600"/>
            <a:ext cx="426720" cy="4267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22C1F6E-4A3B-C08D-8D18-C0895099C66E}"/>
              </a:ext>
            </a:extLst>
          </p:cNvPr>
          <p:cNvSpPr/>
          <p:nvPr/>
        </p:nvSpPr>
        <p:spPr>
          <a:xfrm>
            <a:off x="6096000" y="1036320"/>
            <a:ext cx="4328160" cy="21945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Wellness Incentives</a:t>
            </a:r>
          </a:p>
          <a:p>
            <a:r>
              <a:rPr lang="en-US"/>
              <a:t>Incentivize smoking cessation and weight loss programs. Targeted health interventions directly reduce high-risk claim frequency and severity.</a:t>
            </a:r>
          </a:p>
        </p:txBody>
      </p:sp>
      <p:pic>
        <p:nvPicPr>
          <p:cNvPr id="9" name="Graphic 8" descr="Heart with pulse with solid fill">
            <a:extLst>
              <a:ext uri="{FF2B5EF4-FFF2-40B4-BE49-F238E27FC236}">
                <a16:creationId xmlns:a16="http://schemas.microsoft.com/office/drawing/2014/main" id="{92488027-BA7C-038B-491A-229792CB26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000762"/>
            <a:ext cx="543558" cy="54355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296217E-532B-1C0A-94C7-22E6450BB96E}"/>
              </a:ext>
            </a:extLst>
          </p:cNvPr>
          <p:cNvSpPr/>
          <p:nvPr/>
        </p:nvSpPr>
        <p:spPr>
          <a:xfrm>
            <a:off x="3896358" y="3738880"/>
            <a:ext cx="4328160" cy="21183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Instant Underwriting</a:t>
            </a:r>
          </a:p>
          <a:p>
            <a:r>
              <a:rPr lang="en-US"/>
              <a:t>Integrate the Streamlit engine API directly into buyer portals, cutting pricing onboarding delays from weeks down to a few seconds.</a:t>
            </a:r>
          </a:p>
        </p:txBody>
      </p:sp>
      <p:pic>
        <p:nvPicPr>
          <p:cNvPr id="12" name="Graphic 11" descr="Lightning bolt with solid fill">
            <a:extLst>
              <a:ext uri="{FF2B5EF4-FFF2-40B4-BE49-F238E27FC236}">
                <a16:creationId xmlns:a16="http://schemas.microsoft.com/office/drawing/2014/main" id="{1695DEAB-07B5-B0C5-1DAA-6D98480835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520" y="3820160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64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961970-DD71-2CBE-7B5A-8B7440F6F497}"/>
              </a:ext>
            </a:extLst>
          </p:cNvPr>
          <p:cNvSpPr txBox="1"/>
          <p:nvPr/>
        </p:nvSpPr>
        <p:spPr>
          <a:xfrm>
            <a:off x="3622040" y="1198880"/>
            <a:ext cx="49479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58105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83</TotalTime>
  <Words>508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Helvetica Neue</vt:lpstr>
      <vt:lpstr>Poppins</vt:lpstr>
      <vt:lpstr>Rockwell</vt:lpstr>
      <vt:lpstr>Damask</vt:lpstr>
      <vt:lpstr>AI Health Insurance Predictor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Tejasvi Parate</dc:creator>
  <cp:lastModifiedBy>Tejasvi Parate</cp:lastModifiedBy>
  <cp:revision>2</cp:revision>
  <dcterms:created xsi:type="dcterms:W3CDTF">2026-05-21T09:10:54Z</dcterms:created>
  <dcterms:modified xsi:type="dcterms:W3CDTF">2026-05-21T10:34:25Z</dcterms:modified>
</cp:coreProperties>
</file>